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HappyHour Co.  |  Company Profile  |  M&amp;A Opportunity for WorldWide Brewing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0972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1">
                <a:solidFill>
                  <a:srgbClr val="FFC8C8"/>
                </a:solidFill>
                <a:latin typeface="Arial"/>
              </a:defRPr>
            </a:pPr>
            <a:r>
              <a:t>STRICTLY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C757D"/>
                </a:solidFill>
                <a:latin typeface="Arial"/>
              </a:defRPr>
            </a:pPr>
            <a:r>
              <a:t>Prepared for: Carlos (CEO, WorldWide Brewing)  •  J.P. Morgan  •  March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93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5669280" cy="164592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4864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• Asia-based producer &amp; marketer of beer, spirits &amp; non-alcoholic beverages (founded 1975, HQ Singapore)</a:t>
            </a:r>
          </a:p>
          <a:p>
            <a:pPr>
              <a:spcAft>
                <a:spcPts val="3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• Operations: Singapore, Malaysia, China (+ new facilities planned for Cambodia)</a:t>
            </a:r>
          </a:p>
          <a:p>
            <a:pPr>
              <a:spcAft>
                <a:spcPts val="3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• #1 player in beer &amp; spirits in Singapore &amp; Malaysia; #1 non-</a:t>
            </a:r>
            <a:r>
              <a:rPr sz="1000" dirty="0" err="1"/>
              <a:t>alc</a:t>
            </a:r>
            <a:r>
              <a:rPr sz="1000" dirty="0"/>
              <a:t> beverages in Malaysia</a:t>
            </a:r>
          </a:p>
          <a:p>
            <a:pPr>
              <a:spcAft>
                <a:spcPts val="3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• Premium spirits (vodka, tequila); strong supply chain &amp; distributor relationships</a:t>
            </a:r>
          </a:p>
          <a:p>
            <a:pPr>
              <a:spcAft>
                <a:spcPts val="3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• Industry tailwinds: Asia beer CAGR ~10%, rising premiumization &amp; health drink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88036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93"/>
                </a:solidFill>
                <a:latin typeface="Arial"/>
              </a:defRPr>
            </a:pPr>
            <a:r>
              <a:t>SHAREHOLDERS &amp; SALE DYNAMICS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108960"/>
            <a:ext cx="5669280" cy="123444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54864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• Happy Family (Ms. Happy, co-founder): 60% – seeking full exit &amp; retirement but wishes to remain involved post-sale; prefers strategic buyer preserving founding values</a:t>
            </a:r>
          </a:p>
          <a:p>
            <a:pPr>
              <a:spcAft>
                <a:spcPts val="3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• Hour Family: 20%  |  Co Family: 20%</a:t>
            </a:r>
          </a:p>
          <a:p>
            <a:pPr>
              <a:spcAft>
                <a:spcPts val="3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• Process launched; financial advisor appointed; seller seeking strategic partner for next growth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914400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93"/>
                </a:solidFill>
                <a:latin typeface="Arial"/>
              </a:defRPr>
            </a:pPr>
            <a:r>
              <a:t>KEY FINANCIALS (FY20E)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43000"/>
            <a:ext cx="5760720" cy="137160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88720"/>
            <a:ext cx="5577840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 dirty="0">
                <a:solidFill>
                  <a:srgbClr val="212529"/>
                </a:solidFill>
                <a:latin typeface="Arial"/>
              </a:rPr>
              <a:t>Revenue: </a:t>
            </a:r>
            <a:r>
              <a:rPr sz="1000" dirty="0">
                <a:solidFill>
                  <a:srgbClr val="212529"/>
                </a:solidFill>
                <a:latin typeface="Arial"/>
              </a:rPr>
              <a:t>$1,071m (+12% YoY)     |     EBITDA: $300m (28% margin, +20% YoY)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212529"/>
                </a:solidFill>
                <a:latin typeface="Arial"/>
              </a:rPr>
              <a:t>NPAT: </a:t>
            </a:r>
            <a:r>
              <a:rPr sz="1000" dirty="0">
                <a:solidFill>
                  <a:srgbClr val="212529"/>
                </a:solidFill>
                <a:latin typeface="Arial"/>
              </a:rPr>
              <a:t>$193m (18% margin)     |     Segment mix: Beer 45% | Spirits 35% | Non-alc 20%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212529"/>
                </a:solidFill>
                <a:latin typeface="Arial"/>
              </a:rPr>
              <a:t>Growth: </a:t>
            </a:r>
            <a:r>
              <a:rPr sz="1000" dirty="0">
                <a:solidFill>
                  <a:srgbClr val="212529"/>
                </a:solidFill>
                <a:latin typeface="Arial"/>
              </a:rPr>
              <a:t>Strong &amp; accelerating; premiumization &amp; health trends supportive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06040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Arial"/>
              </a:defRPr>
            </a:pPr>
            <a:r>
              <a:t>INDICATIVE 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834640"/>
            <a:ext cx="5760720" cy="6858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880360"/>
            <a:ext cx="55778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212529"/>
                </a:solidFill>
                <a:latin typeface="Arial"/>
              </a:defRPr>
            </a:pPr>
            <a:r>
              <a:rPr sz="1000" dirty="0"/>
              <a:t>US$3,500m EV (per financial advisor)  •  Implied 10.0x – 11.5x FY20E EBITDA (broker peer range)</a:t>
            </a:r>
          </a:p>
          <a:p>
            <a:pPr>
              <a:defRPr sz="750">
                <a:solidFill>
                  <a:srgbClr val="212529"/>
                </a:solidFill>
                <a:latin typeface="Arial"/>
              </a:defRPr>
            </a:pPr>
            <a:r>
              <a:rPr sz="900" dirty="0"/>
              <a:t>Attractive entry multiple for strategic buyer with clear Asia platform synergies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8056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93"/>
                </a:solidFill>
                <a:latin typeface="Arial"/>
              </a:defRPr>
            </a:pPr>
            <a:r>
              <a:t>★ STRATEGIC FIT FOR WORLDWIDE BREWING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709160"/>
            <a:ext cx="11612880" cy="10058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754880"/>
            <a:ext cx="1143000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50" dirty="0"/>
              <a:t>• Same segments (beer/spirits/non-</a:t>
            </a:r>
            <a:r>
              <a:rPr sz="1050" dirty="0" err="1"/>
              <a:t>alc</a:t>
            </a:r>
            <a:r>
              <a:rPr sz="1050" dirty="0"/>
              <a:t>) + integrated model (</a:t>
            </a:r>
            <a:r>
              <a:rPr sz="1050" dirty="0" err="1"/>
              <a:t>manuf</a:t>
            </a:r>
            <a:r>
              <a:rPr sz="1050" dirty="0"/>
              <a:t> + </a:t>
            </a:r>
            <a:r>
              <a:rPr sz="1050" dirty="0" err="1"/>
              <a:t>dist</a:t>
            </a:r>
            <a:r>
              <a:rPr sz="1050" dirty="0"/>
              <a:t> + sales) → clear synergies &amp; platform for Asia expansion</a:t>
            </a:r>
          </a:p>
          <a:p>
            <a:pPr>
              <a:spcAft>
                <a:spcPts val="2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50" dirty="0"/>
              <a:t>• #1 market positions in high-growth ASEAN + China/Cambodia pipeline; 28% EBITDA margin (vs. typical 15-20% for peers); strong cash flow</a:t>
            </a:r>
          </a:p>
          <a:p>
            <a:pPr>
              <a:spcAft>
                <a:spcPts val="200"/>
              </a:spcAft>
              <a:defRPr sz="800">
                <a:solidFill>
                  <a:srgbClr val="212529"/>
                </a:solidFill>
                <a:latin typeface="Arial"/>
              </a:defRPr>
            </a:pPr>
            <a:r>
              <a:rPr sz="1050" dirty="0"/>
              <a:t>• Seller preference for strategic buyer + Ms. Happy's desire to stay involved = smoother transition &amp; cultural fit vs. PE or financial buyer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8064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 i="1">
                <a:solidFill>
                  <a:srgbClr val="6C757D"/>
                </a:solidFill>
                <a:latin typeface="Arial"/>
              </a:defRPr>
            </a:pPr>
            <a:r>
              <a:t>Sources: Company website, press article (sale rumor), broker industry report (J.P. Morgan). All figures FY June 2020 estimates.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59893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C757D"/>
                </a:solidFill>
                <a:latin typeface="Arial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Auction Process &amp; Key Workstreams  |  60% Stake Sale by Happy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350" y="109728"/>
            <a:ext cx="147829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1">
                <a:solidFill>
                  <a:srgbClr val="FFC8C8"/>
                </a:solidFill>
                <a:latin typeface="Arial"/>
              </a:defRPr>
            </a:pPr>
            <a:r>
              <a:rPr sz="800" dirty="0"/>
              <a:t>STRICTLY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52645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C757D"/>
                </a:solidFill>
                <a:latin typeface="Arial"/>
              </a:defRPr>
            </a:pPr>
            <a:r>
              <a:rPr sz="900" dirty="0"/>
              <a:t>Financial Advisor: </a:t>
            </a:r>
            <a:r>
              <a:rPr sz="900" dirty="0" err="1"/>
              <a:t>SellerAdvisorCo</a:t>
            </a:r>
            <a:r>
              <a:rPr sz="900" dirty="0"/>
              <a:t> (J.P. Morgan)  •  Two-Phase Process: Indicative Bid → Final Bid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04929"/>
              </p:ext>
            </p:extLst>
          </p:nvPr>
        </p:nvGraphicFramePr>
        <p:xfrm>
          <a:off x="274320" y="868680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000" dirty="0"/>
                        <a:t>Phase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000" dirty="0"/>
                        <a:t>Date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000"/>
                        <a:t>Event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000"/>
                        <a:t>Key Workstreams &amp; Deliverables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293"/>
                          </a:solidFill>
                          <a:latin typeface="Arial"/>
                        </a:defRPr>
                      </a:pPr>
                      <a:r>
                        <a:rPr sz="900"/>
                        <a:t>Round 1: Indicative Bid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Mar 19,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Data room opens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/>
                        <a:t>Access to IM, vendor DD reports, financial forecasts (strictly no reliance basis)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/>
                        <a:t>Apr 9–13, 2020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Q&amp;A window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Submit ≤20 questions/bidder via form; responses shared with all bidders (source confidential)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/>
                        <a:t>May 13, 2020 (5pm HK)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Indicative Bid due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Detailed bid: purchaser identity, EV price, assumptions, funding proof, DD needs, timing, structure, advisors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293"/>
                          </a:solidFill>
                          <a:latin typeface="Arial"/>
                        </a:defRPr>
                      </a:pPr>
                      <a:r>
                        <a:rPr sz="900"/>
                        <a:t>Round 2: Final Bid Phase (Shortlisted)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Late May 2020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/>
                        <a:t>Shortlist + Process Letter 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Enhanced data room, guided site visits, management presentations, additional Q&amp;A, transaction docs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/>
                        <a:t>Late July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/>
                        <a:t>Final (binding) Bid due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Legally binding offer; full DD completion expected; transaction implementation documentation provided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3337560"/>
            <a:ext cx="5669280" cy="155448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548640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B8860B"/>
                </a:solidFill>
                <a:latin typeface="Arial"/>
              </a:defRPr>
            </a:pPr>
            <a:r>
              <a:rPr sz="1100" dirty="0"/>
              <a:t>KEY PROCESS NOTES</a:t>
            </a:r>
          </a:p>
          <a:p>
            <a:pPr>
              <a:defRPr sz="700">
                <a:solidFill>
                  <a:srgbClr val="212529"/>
                </a:solidFill>
                <a:latin typeface="Arial"/>
              </a:defRPr>
            </a:pPr>
            <a:r>
              <a:rPr sz="1050" dirty="0"/>
              <a:t>• All inquiries &amp; bids directed exclusively through Financial Advisor (</a:t>
            </a:r>
            <a:r>
              <a:rPr sz="1050" dirty="0" err="1"/>
              <a:t>SellerAdvisorCo</a:t>
            </a:r>
            <a:r>
              <a:rPr sz="1050" dirty="0"/>
              <a:t>). No direct contact with </a:t>
            </a:r>
            <a:r>
              <a:rPr sz="1050" dirty="0" err="1"/>
              <a:t>HappyHour</a:t>
            </a:r>
            <a:r>
              <a:rPr sz="1050" dirty="0"/>
              <a:t>, shareholders, or management.</a:t>
            </a:r>
          </a:p>
          <a:p>
            <a:pPr>
              <a:defRPr sz="700">
                <a:solidFill>
                  <a:srgbClr val="212529"/>
                </a:solidFill>
                <a:latin typeface="Arial"/>
              </a:defRPr>
            </a:pPr>
            <a:r>
              <a:rPr sz="1050" dirty="0"/>
              <a:t>• Seller reserves sole discretion to accept/reject bids or alter/terminate process at any time. Existence &amp; content strictly confidential.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337560"/>
            <a:ext cx="5760720" cy="1554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3383280"/>
            <a:ext cx="386676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E7D32"/>
                </a:solidFill>
                <a:latin typeface="Arial"/>
              </a:defRPr>
            </a:pPr>
            <a:r>
              <a:rPr sz="1000" dirty="0"/>
              <a:t>RECOMMENDED NEXT STEPS FOR WORLDWIDE BREWING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584448"/>
            <a:ext cx="55778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7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1. Review Indicative Bid Documents immediately upon release (Mar 19) – focus on QoE, customer contracts, Cambodia capex, key person risks.</a:t>
            </a:r>
          </a:p>
          <a:p>
            <a:pPr>
              <a:spcAft>
                <a:spcPts val="300"/>
              </a:spcAft>
              <a:defRPr sz="7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2. Prepare &amp; submit max 20 targeted DD questions (Apr 9–13) covering synergies, integration costs, non-compete, retention of Ms. Happy &amp; key talent.</a:t>
            </a:r>
          </a:p>
          <a:p>
            <a:pPr>
              <a:spcAft>
                <a:spcPts val="300"/>
              </a:spcAft>
              <a:defRPr sz="700">
                <a:solidFill>
                  <a:srgbClr val="212529"/>
                </a:solidFill>
                <a:latin typeface="Arial"/>
              </a:defRPr>
            </a:pPr>
            <a:r>
              <a:rPr sz="1000" dirty="0"/>
              <a:t>3. Build Indicative Bid (due May 13) with: (a) EV range supported by 10–12x + synergy NPV, (b) 100-day integration plan, (c) proof of funds, (d) governance proposal preserving family legacy.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0292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 i="1">
                <a:solidFill>
                  <a:srgbClr val="6C757D"/>
                </a:solidFill>
                <a:latin typeface="Arial"/>
              </a:defRPr>
            </a:pPr>
            <a:r>
              <a:t>J.P. Morgan | SellerAdvisorCo | Strictly Confidential | Do not distribute | HappyHour Co. 60% Stake Sale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50292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C757D"/>
                </a:solidFill>
                <a:latin typeface="Arial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777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Soumyakanta Bera</cp:lastModifiedBy>
  <cp:revision>3</cp:revision>
  <dcterms:created xsi:type="dcterms:W3CDTF">2013-01-27T09:14:16Z</dcterms:created>
  <dcterms:modified xsi:type="dcterms:W3CDTF">2026-05-02T19:35:46Z</dcterms:modified>
  <cp:category/>
</cp:coreProperties>
</file>